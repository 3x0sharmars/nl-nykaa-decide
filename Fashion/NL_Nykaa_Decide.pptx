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FF42A0-FE93-48E5-A95F-9BCE556B8288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BBBF1D-CCC7-4178-939E-F8DE731354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044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47043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13694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03139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57320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37284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86075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23357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00606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6510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57198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61486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9759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B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325880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For the selected segment, primary research found that availability and desire were largely </a:t>
            </a:r>
            <a:r>
              <a:rPr kumimoji="0" lang="en-US" sz="29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intact</a:t>
            </a:r>
            <a:endParaRPr kumimoji="0" lang="en-US" sz="2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822960" y="2140527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0" normalizeH="0" baseline="0" noProof="0" dirty="0" smtClean="0">
                <a:ln>
                  <a:noFill/>
                </a:ln>
                <a:solidFill>
                  <a:srgbClr val="D6006E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while </a:t>
            </a:r>
            <a:r>
              <a:rPr kumimoji="0" lang="en-US" sz="2900" b="1" i="0" u="none" strike="noStrike" kern="1200" cap="none" spc="0" normalizeH="0" baseline="0" noProof="0" dirty="0">
                <a:ln>
                  <a:noFill/>
                </a:ln>
                <a:solidFill>
                  <a:srgbClr val="D6006E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decision confidence remained the unresolved problem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822960" y="26974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C9C5C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Nykaa Decide turns saved-item interest into purchase confidence  ·  Growth  ·  Nykaa Fashion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22960" y="36118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1,069</a:t>
            </a:r>
            <a:endParaRPr kumimoji="0" lang="en-US" sz="2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822960" y="418795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A9A4B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review units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A9A4B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machine-classified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3520440" y="36118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120</a:t>
            </a:r>
            <a:endParaRPr kumimoji="0" lang="en-US" sz="2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3520440" y="418795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A9A4B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hand-coded blind against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A9A4B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frozen codebook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217920" y="36118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kumimoji="0" lang="en-US" sz="2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217920" y="418795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A9A4B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saved items walked through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A9A4B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with 7 shoppers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8915400" y="36118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kumimoji="0" lang="en-US" sz="2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915400" y="418795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A9A4B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tail-SKU listings audited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A9A4B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line by line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22960" y="5212080"/>
            <a:ext cx="10515600" cy="0"/>
          </a:xfrm>
          <a:prstGeom prst="line">
            <a:avLst/>
          </a:prstGeom>
          <a:noFill/>
          <a:ln w="12700">
            <a:solidFill>
              <a:srgbClr val="3A344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53949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A9A4B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Discovery engine 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D600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[paste link]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A9A4B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        Deployed MVP 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D600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[paste link]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259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16161D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The metric is user-level; the failures are item-level — so we decomposed it in two layers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A9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A8A9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usiness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A9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metric decomposition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0" cy="1298448"/>
          </a:xfrm>
          <a:prstGeom prst="roundRect">
            <a:avLst>
              <a:gd name="adj" fmla="val 5634"/>
            </a:avLst>
          </a:prstGeom>
          <a:solidFill>
            <a:srgbClr val="F4F2F5"/>
          </a:solidFill>
          <a:ln w="12700">
            <a:solidFill>
              <a:srgbClr val="F4F2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92224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100" normalizeH="0" baseline="0" noProof="0" dirty="0">
                <a:ln>
                  <a:noFill/>
                </a:ln>
                <a:solidFill>
                  <a:srgbClr val="D600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LAYER 1 — USER LEVEL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77240" y="2066544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6161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% of wishlisting users who purchase ≥1 saved item within 30 days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777240" y="256032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6E6E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user converts unless every saved item fails.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3127248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EDEAF0"/>
          </a:solidFill>
          <a:ln w="12700">
            <a:solidFill>
              <a:srgbClr val="EDEA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322783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100" normalizeH="0" baseline="0" noProof="0" dirty="0">
                <a:ln>
                  <a:noFill/>
                </a:ln>
                <a:solidFill>
                  <a:srgbClr val="D600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DENOMINATOR — A DELIBERATE CHOICE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777240" y="3502152"/>
            <a:ext cx="4663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6161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Wishlisters only, not all MAU. Including non-wishlisters folds an adoption problem into a conversion problem. The brief targets demand already present.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4681728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F4F2F5"/>
          </a:solidFill>
          <a:ln w="12700">
            <a:solidFill>
              <a:srgbClr val="F4F2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478231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100" normalizeH="0" baseline="0" noProof="0" dirty="0">
                <a:ln>
                  <a:noFill/>
                </a:ln>
                <a:solidFill>
                  <a:srgbClr val="D600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AND NOT EVERY SAVE IS INTENT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777240" y="5056632"/>
            <a:ext cx="4663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6161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Mood boards, sale watchlists and aspirational saves sit in the same list. The intent filter runs before any gate is assigned — we do not treat wishlist as purchase intent.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5943600" y="1737360"/>
            <a:ext cx="5669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6161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LAYER 2 — ITEM LEVEL: eight pre-registered failure gates, earliest-decisive rule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943600" y="2148840"/>
            <a:ext cx="5687568" cy="438912"/>
          </a:xfrm>
          <a:prstGeom prst="rect">
            <a:avLst/>
          </a:prstGeom>
          <a:solidFill>
            <a:srgbClr val="F4F2F5"/>
          </a:solidFill>
          <a:ln w="6350">
            <a:solidFill>
              <a:srgbClr val="E4E0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53328" y="21945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6161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  Return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7955280" y="21945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E6E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never re-engaged with the saved item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943600" y="2660904"/>
            <a:ext cx="5687568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4E0E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053328" y="270662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6161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  Purchasability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7955280" y="270662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E6E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size / variant no longer buyable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943600" y="3172968"/>
            <a:ext cx="5687568" cy="438912"/>
          </a:xfrm>
          <a:prstGeom prst="rect">
            <a:avLst/>
          </a:prstGeom>
          <a:solidFill>
            <a:srgbClr val="F4F2F5"/>
          </a:solidFill>
          <a:ln w="6350">
            <a:solidFill>
              <a:srgbClr val="E4E0E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053328" y="321868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6161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  Intent decay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7955280" y="321868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E6E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 longer wants it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943600" y="3685032"/>
            <a:ext cx="5687568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4E0E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053328" y="37307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D600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  Decision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7955280" y="373075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E6E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still wants it, can't commit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5943600" y="4197096"/>
            <a:ext cx="5687568" cy="438912"/>
          </a:xfrm>
          <a:prstGeom prst="rect">
            <a:avLst/>
          </a:prstGeom>
          <a:solidFill>
            <a:srgbClr val="F4F2F5"/>
          </a:solidFill>
          <a:ln w="6350">
            <a:solidFill>
              <a:srgbClr val="E4E0E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053328" y="424281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6161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  Substitution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7955280" y="424281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E6E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bought it elsewhere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943600" y="4709160"/>
            <a:ext cx="5687568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4E0E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053328" y="47548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6161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6  Latency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7955280" y="47548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E6E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will buy, but after day 30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5943600" y="5221224"/>
            <a:ext cx="5687568" cy="438912"/>
          </a:xfrm>
          <a:prstGeom prst="rect">
            <a:avLst/>
          </a:prstGeom>
          <a:solidFill>
            <a:srgbClr val="F4F2F5"/>
          </a:solidFill>
          <a:ln w="6350">
            <a:solidFill>
              <a:srgbClr val="E4E0E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053328" y="526694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6161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7  Economic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 txBox="1"/>
          <p:nvPr/>
        </p:nvSpPr>
        <p:spPr>
          <a:xfrm>
            <a:off x="7955280" y="526694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E6E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price is the blocker (excluded by brief)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5943600" y="5733288"/>
            <a:ext cx="5687568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4E0E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053328" y="57790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6161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8  Other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/>
          <p:cNvSpPr txBox="1"/>
          <p:nvPr/>
        </p:nvSpPr>
        <p:spPr>
          <a:xfrm>
            <a:off x="7955280" y="577900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E6E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 information to attribute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7"/>
          <p:cNvSpPr txBox="1"/>
          <p:nvPr/>
        </p:nvSpPr>
        <p:spPr>
          <a:xfrm>
            <a:off x="548640" y="6345936"/>
            <a:ext cx="11064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8A8A9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Gates frozen before any data was collected. One gate per item; downstream events kept as metadata, never a second vote.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1706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16161D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The engine is good at finding observable failures — and systematically under-observes “I still can't decide”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A8A9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AI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A9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discovery engine: method, and the limits of the instrument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2670048" cy="1517904"/>
          </a:xfrm>
          <a:prstGeom prst="roundRect">
            <a:avLst>
              <a:gd name="adj" fmla="val 4819"/>
            </a:avLst>
          </a:prstGeom>
          <a:solidFill>
            <a:srgbClr val="F4F2F5"/>
          </a:solidFill>
          <a:ln w="12700">
            <a:solidFill>
              <a:srgbClr val="F4F2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783080"/>
            <a:ext cx="384048" cy="384048"/>
          </a:xfrm>
          <a:prstGeom prst="ellipse">
            <a:avLst/>
          </a:prstGeom>
          <a:solidFill>
            <a:srgbClr val="D6006E"/>
          </a:solidFill>
          <a:ln w="12700">
            <a:solidFill>
              <a:srgbClr val="D600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84708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207008" y="18105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6161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713232" y="2249424"/>
            <a:ext cx="23408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E6E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Behaviour-anchored queries only. Never reason-anchored — searching for a reason determines the finding.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401568" y="1664208"/>
            <a:ext cx="2670048" cy="1517904"/>
          </a:xfrm>
          <a:prstGeom prst="roundRect">
            <a:avLst>
              <a:gd name="adj" fmla="val 4819"/>
            </a:avLst>
          </a:prstGeom>
          <a:solidFill>
            <a:srgbClr val="F4F2F5"/>
          </a:solidFill>
          <a:ln w="12700">
            <a:solidFill>
              <a:srgbClr val="F4F2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66160" y="1783080"/>
            <a:ext cx="384048" cy="384048"/>
          </a:xfrm>
          <a:prstGeom prst="ellipse">
            <a:avLst/>
          </a:prstGeom>
          <a:solidFill>
            <a:srgbClr val="D6006E"/>
          </a:solidFill>
          <a:ln w="12700">
            <a:solidFill>
              <a:srgbClr val="D6006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66160" y="184708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4059936" y="18105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6161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3566160" y="2249424"/>
            <a:ext cx="23408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E6E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intent filter runs before any gate. A wishlist mention alone is not enough.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254496" y="1664208"/>
            <a:ext cx="2670048" cy="1517904"/>
          </a:xfrm>
          <a:prstGeom prst="roundRect">
            <a:avLst>
              <a:gd name="adj" fmla="val 4819"/>
            </a:avLst>
          </a:prstGeom>
          <a:solidFill>
            <a:srgbClr val="F4F2F5"/>
          </a:solidFill>
          <a:ln w="12700">
            <a:solidFill>
              <a:srgbClr val="F4F2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19088" y="1783080"/>
            <a:ext cx="384048" cy="384048"/>
          </a:xfrm>
          <a:prstGeom prst="ellipse">
            <a:avLst/>
          </a:prstGeom>
          <a:solidFill>
            <a:srgbClr val="D6006E"/>
          </a:solidFill>
          <a:ln w="12700">
            <a:solidFill>
              <a:srgbClr val="D6006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19088" y="184708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6912864" y="18105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6161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6419088" y="2249424"/>
            <a:ext cx="23408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E6E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One unit, one gate, earliest-decisive rule. Codebook frozen and fingerprinted.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9107424" y="1664208"/>
            <a:ext cx="2670048" cy="1517904"/>
          </a:xfrm>
          <a:prstGeom prst="roundRect">
            <a:avLst>
              <a:gd name="adj" fmla="val 4819"/>
            </a:avLst>
          </a:prstGeom>
          <a:solidFill>
            <a:srgbClr val="F4F2F5"/>
          </a:solidFill>
          <a:ln w="12700">
            <a:solidFill>
              <a:srgbClr val="F4F2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72016" y="1783080"/>
            <a:ext cx="384048" cy="384048"/>
          </a:xfrm>
          <a:prstGeom prst="ellipse">
            <a:avLst/>
          </a:prstGeom>
          <a:solidFill>
            <a:srgbClr val="D6006E"/>
          </a:solidFill>
          <a:ln w="12700">
            <a:solidFill>
              <a:srgbClr val="D6006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272016" y="184708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9765792" y="18105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6161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9272016" y="2249424"/>
            <a:ext cx="23408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E6E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120 units hand-coded blind. An 11-case adversarial set gates the classifier.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48640" y="3346704"/>
            <a:ext cx="5532120" cy="2743200"/>
          </a:xfrm>
          <a:prstGeom prst="roundRect">
            <a:avLst>
              <a:gd name="adj" fmla="val 2667"/>
            </a:avLst>
          </a:prstGeom>
          <a:solidFill>
            <a:srgbClr val="EDEAF0"/>
          </a:solidFill>
          <a:ln w="12700">
            <a:solidFill>
              <a:srgbClr val="EDEA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343814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100" normalizeH="0" baseline="0" noProof="0" dirty="0">
                <a:ln>
                  <a:noFill/>
                </a:ln>
                <a:solidFill>
                  <a:srgbClr val="D600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WHAT THE CORPUS CAN AND CANNOT SEE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777240" y="370248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E7C5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Purchasability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2560320" y="370248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E6E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high — a stockout is a grievance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777240" y="402252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E7C5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Economic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2560320" y="402252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E6E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high — pricing gets complained about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 txBox="1"/>
          <p:nvPr/>
        </p:nvSpPr>
        <p:spPr>
          <a:xfrm>
            <a:off x="777240" y="434256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B7791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Substitution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2560320" y="434256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E6E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medium — switching gets announced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777240" y="466260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6E6E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 txBox="1"/>
          <p:nvPr/>
        </p:nvSpPr>
        <p:spPr>
          <a:xfrm>
            <a:off x="2560320" y="466260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E6E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low — “I couldn't decide” isn't a review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 txBox="1"/>
          <p:nvPr/>
        </p:nvSpPr>
        <p:spPr>
          <a:xfrm>
            <a:off x="777240" y="498264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6E6E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Intent decay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 txBox="1"/>
          <p:nvPr/>
        </p:nvSpPr>
        <p:spPr>
          <a:xfrm>
            <a:off x="2560320" y="498264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E6E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near zero — nobody reviews forgetting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 txBox="1"/>
          <p:nvPr/>
        </p:nvSpPr>
        <p:spPr>
          <a:xfrm>
            <a:off x="777240" y="530268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6E6E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 txBox="1"/>
          <p:nvPr/>
        </p:nvSpPr>
        <p:spPr>
          <a:xfrm>
            <a:off x="2560320" y="530268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E6E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near zero — waiting generates no text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/>
          <p:cNvSpPr txBox="1"/>
          <p:nvPr/>
        </p:nvSpPr>
        <p:spPr>
          <a:xfrm>
            <a:off x="777240" y="570585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srgbClr val="16161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Only 13% of wishlist-mentioning reviews describe an actual purchase failure.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6263640" y="3346704"/>
            <a:ext cx="2697480" cy="2743200"/>
          </a:xfrm>
          <a:prstGeom prst="roundRect">
            <a:avLst>
              <a:gd name="adj" fmla="val 2712"/>
            </a:avLst>
          </a:prstGeom>
          <a:solidFill>
            <a:srgbClr val="F4F2F5"/>
          </a:solidFill>
          <a:ln w="12700">
            <a:solidFill>
              <a:srgbClr val="F4F2F5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464808" y="3429831"/>
            <a:ext cx="24597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100" normalizeH="0" baseline="0" noProof="0" dirty="0">
                <a:ln>
                  <a:noFill/>
                </a:ln>
                <a:solidFill>
                  <a:srgbClr val="D600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BIAS DECLARED BEFORE ANALYSIS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/>
          <p:cNvSpPr txBox="1"/>
          <p:nvPr/>
        </p:nvSpPr>
        <p:spPr>
          <a:xfrm>
            <a:off x="6464808" y="393192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6161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Public text samples what people bother to write down, not what happens. Direction recorded before classifying: Purchasability and Economic over-observed; Decision, Intent Decay and Latency under-observed — lower bounds, not estimates.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9144000" y="3346704"/>
            <a:ext cx="2487168" cy="2743200"/>
          </a:xfrm>
          <a:prstGeom prst="roundRect">
            <a:avLst>
              <a:gd name="adj" fmla="val 2941"/>
            </a:avLst>
          </a:prstGeom>
          <a:solidFill>
            <a:srgbClr val="F4F2F5"/>
          </a:solidFill>
          <a:ln w="12700">
            <a:solidFill>
              <a:srgbClr val="F4F2F5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345168" y="3438144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100" normalizeH="0" baseline="0" noProof="0" dirty="0">
                <a:ln>
                  <a:noFill/>
                </a:ln>
                <a:solidFill>
                  <a:srgbClr val="D600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MODEL FAILURE TESTING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2"/>
          <p:cNvSpPr txBox="1"/>
          <p:nvPr/>
        </p:nvSpPr>
        <p:spPr>
          <a:xfrm>
            <a:off x="9345168" y="39319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6161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Gemini 3 Flash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43"/>
          <p:cNvSpPr txBox="1"/>
          <p:nvPr/>
        </p:nvSpPr>
        <p:spPr>
          <a:xfrm>
            <a:off x="10744200" y="39319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E7C5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11/11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44"/>
          <p:cNvSpPr txBox="1"/>
          <p:nvPr/>
        </p:nvSpPr>
        <p:spPr>
          <a:xfrm>
            <a:off x="9345168" y="42793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6161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Nemotron 550B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 45"/>
          <p:cNvSpPr txBox="1"/>
          <p:nvPr/>
        </p:nvSpPr>
        <p:spPr>
          <a:xfrm>
            <a:off x="10744200" y="42793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6161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10/11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 46"/>
          <p:cNvSpPr txBox="1"/>
          <p:nvPr/>
        </p:nvSpPr>
        <p:spPr>
          <a:xfrm>
            <a:off x="9345168" y="462686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6161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Nemotron 49B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47"/>
          <p:cNvSpPr txBox="1"/>
          <p:nvPr/>
        </p:nvSpPr>
        <p:spPr>
          <a:xfrm>
            <a:off x="10744200" y="46268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6161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9/11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 48"/>
          <p:cNvSpPr txBox="1"/>
          <p:nvPr/>
        </p:nvSpPr>
        <p:spPr>
          <a:xfrm>
            <a:off x="9345168" y="497433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6161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Nemotron 120B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Text 49"/>
          <p:cNvSpPr txBox="1"/>
          <p:nvPr/>
        </p:nvSpPr>
        <p:spPr>
          <a:xfrm>
            <a:off x="10744200" y="497433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B7791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6/11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Text 50"/>
          <p:cNvSpPr txBox="1"/>
          <p:nvPr/>
        </p:nvSpPr>
        <p:spPr>
          <a:xfrm>
            <a:off x="9345168" y="537667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6E6E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Every failure was the intent filter, not a gate boundary — silently shrinking the denominator of every share.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Text 51"/>
          <p:cNvSpPr txBox="1"/>
          <p:nvPr/>
        </p:nvSpPr>
        <p:spPr>
          <a:xfrm>
            <a:off x="548640" y="6345936"/>
            <a:ext cx="11064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8A8A9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 points to friction. Primary research was needed to determine whether that friction was actually killing the purchase — the corpus cannot prove which gate is largest.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09745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16161D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Primary research removed stockouts and lost interest from the shortlist — what remained was confidence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A8A9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Interviews conducted to reach 22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A9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saved items walked through with 7 shoppers on their own phones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4F2F5"/>
          </a:solidFill>
          <a:ln w="12700">
            <a:solidFill>
              <a:srgbClr val="F4F2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82880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E7C5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280160" y="186537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100" normalizeH="0" baseline="0" noProof="0" dirty="0">
                <a:ln>
                  <a:noFill/>
                </a:ln>
                <a:solidFill>
                  <a:srgbClr val="0E7C5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749808" y="230428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6161D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22 / 22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749808" y="28803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E6E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items still purchasable in the buyer's size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352544" y="173736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4F2F5"/>
          </a:solidFill>
          <a:ln w="12700">
            <a:solidFill>
              <a:srgbClr val="F4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53712" y="182880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E7C5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5084064" y="186537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100" normalizeH="0" baseline="0" noProof="0" dirty="0">
                <a:ln>
                  <a:noFill/>
                </a:ln>
                <a:solidFill>
                  <a:srgbClr val="0E7C5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Desire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4553712" y="230428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6161D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21 / 22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4553712" y="28803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E6E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still wanted by the person who saved it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156448" y="173736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BEAF2"/>
          </a:solidFill>
          <a:ln w="12700">
            <a:solidFill>
              <a:srgbClr val="FBEAF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57616" y="182880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D600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887968" y="186537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100" normalizeH="0" baseline="0" noProof="0" dirty="0">
                <a:ln>
                  <a:noFill/>
                </a:ln>
                <a:solidFill>
                  <a:srgbClr val="D600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Decision confidence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8357616" y="230428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6161D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10 / 16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8357616" y="28803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E6E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non-converted items stalled on an unresolved doubt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48640" y="4069080"/>
            <a:ext cx="6766560" cy="2011680"/>
          </a:xfrm>
          <a:prstGeom prst="roundRect">
            <a:avLst>
              <a:gd name="adj" fmla="val 3636"/>
            </a:avLst>
          </a:prstGeom>
          <a:solidFill>
            <a:srgbClr val="F4F2F5"/>
          </a:solidFill>
          <a:ln w="12700">
            <a:solidFill>
              <a:srgbClr val="F4F2F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4178808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100" normalizeH="0" baseline="0" noProof="0" dirty="0">
                <a:ln>
                  <a:noFill/>
                </a:ln>
                <a:solidFill>
                  <a:srgbClr val="D600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WHAT THE ITEMS ACTUALLY SAID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758121" y="4768596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16161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“Unsure on the quality of the leather.”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758121" y="5134356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16161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“Unsure whether the colour will match the one visible on screen.”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758121" y="5500116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16161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“Unsure on the quality for the premium paid.”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795528" y="4462272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16161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“What am I getting exactly?”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7589520" y="4069080"/>
            <a:ext cx="4041648" cy="2011680"/>
          </a:xfrm>
          <a:prstGeom prst="roundRect">
            <a:avLst>
              <a:gd name="adj" fmla="val 3636"/>
            </a:avLst>
          </a:prstGeom>
          <a:solidFill>
            <a:srgbClr val="EDEAF0"/>
          </a:solidFill>
          <a:ln w="12700">
            <a:solidFill>
              <a:srgbClr val="EDEAF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818120" y="4178808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100" normalizeH="0" baseline="0" noProof="0" dirty="0">
                <a:ln>
                  <a:noFill/>
                </a:ln>
                <a:solidFill>
                  <a:srgbClr val="D600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AND WHERE THEY WENT INSTEAD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7818120" y="4480560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6161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 of 22 items were bought in a physical store after the buyer went to check fit or material in person. Others cross-checked the same product on another app.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7818120" y="5532120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srgbClr val="D600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gets made — just not here.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548640" y="6345936"/>
            <a:ext cx="11064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8A8A9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 = 22 items across 7 participants (~15 independent decision events); 16 non-converted items form the gate distribution. Convenience-recruited, self-coded — direction is strong, percentages indicative.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64457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16161D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High-intent, occasion-driven shoppers can't tell whether a saved item is right for the occasion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A9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A8A9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roblem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A9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309360" cy="1261872"/>
          </a:xfrm>
          <a:prstGeom prst="roundRect">
            <a:avLst>
              <a:gd name="adj" fmla="val 5797"/>
            </a:avLst>
          </a:prstGeom>
          <a:solidFill>
            <a:srgbClr val="F4F2F5"/>
          </a:solidFill>
          <a:ln w="12700">
            <a:solidFill>
              <a:srgbClr val="F4F2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2880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100" normalizeH="0" baseline="0" noProof="0" dirty="0">
                <a:ln>
                  <a:noFill/>
                </a:ln>
                <a:solidFill>
                  <a:srgbClr val="D600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TARGET SEGMENT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77240" y="2103120"/>
            <a:ext cx="5852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6161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Occasion-driven shoppers saving mid-priced apparel on low-review, information-thin SKUs — festive wear, gifting, workwear, life-stage purchases. Saves are recent: median 10 days, 18 of 22 inside the 30-day window.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3154680"/>
            <a:ext cx="6309360" cy="1261872"/>
          </a:xfrm>
          <a:prstGeom prst="roundRect">
            <a:avLst>
              <a:gd name="adj" fmla="val 5797"/>
            </a:avLst>
          </a:prstGeom>
          <a:solidFill>
            <a:srgbClr val="F4F2F5"/>
          </a:solidFill>
          <a:ln w="12700">
            <a:solidFill>
              <a:srgbClr val="F4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24612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100" normalizeH="0" baseline="0" noProof="0" dirty="0">
                <a:ln>
                  <a:noFill/>
                </a:ln>
                <a:solidFill>
                  <a:srgbClr val="D600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PRODUCT OUTCOME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777240" y="3520440"/>
            <a:ext cx="5852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6161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More decisions closed on recently saved, still-wanted items within 30 days. Not more items saved — a user who saves 40 and buys none moves engagement, not the metric.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4572000"/>
            <a:ext cx="6309360" cy="1261872"/>
          </a:xfrm>
          <a:prstGeom prst="roundRect">
            <a:avLst>
              <a:gd name="adj" fmla="val 5797"/>
            </a:avLst>
          </a:prstGeom>
          <a:solidFill>
            <a:srgbClr val="EDEAF0"/>
          </a:solidFill>
          <a:ln w="12700">
            <a:solidFill>
              <a:srgbClr val="EDEA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466344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100" normalizeH="0" baseline="0" noProof="0" dirty="0">
                <a:ln>
                  <a:noFill/>
                </a:ln>
                <a:solidFill>
                  <a:srgbClr val="D600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777240" y="4937760"/>
            <a:ext cx="5852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6161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buyer cannot confidently determine whether a saved product is right for the intended occasion, because product evidence is fragmented, incomplete and hard to compare. Insufficient decision confidence is the problem; missing evidence is the mechanism.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132320" y="1737360"/>
            <a:ext cx="4498848" cy="2148840"/>
          </a:xfrm>
          <a:prstGeom prst="roundRect">
            <a:avLst>
              <a:gd name="adj" fmla="val 3404"/>
            </a:avLst>
          </a:prstGeom>
          <a:solidFill>
            <a:srgbClr val="F4F2F5"/>
          </a:solidFill>
          <a:ln w="12700">
            <a:solidFill>
              <a:srgbClr val="F4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60920" y="184708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100" normalizeH="0" baseline="0" noProof="0" dirty="0">
                <a:ln>
                  <a:noFill/>
                </a:ln>
                <a:solidFill>
                  <a:srgbClr val="D600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EXISTING WORKAROUNDS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7360920" y="2139696"/>
            <a:ext cx="4023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6161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Visiting a physical store to check fit or material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6161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Cross-checking the same SKU on another app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6161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Reading reviews elsewhere; asking friends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6161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Screenshotting saved items to curate manually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132320" y="4069080"/>
            <a:ext cx="4498848" cy="2011680"/>
          </a:xfrm>
          <a:prstGeom prst="roundRect">
            <a:avLst>
              <a:gd name="adj" fmla="val 3636"/>
            </a:avLst>
          </a:prstGeom>
          <a:solidFill>
            <a:srgbClr val="EDEAF0"/>
          </a:solidFill>
          <a:ln w="12700">
            <a:solidFill>
              <a:srgbClr val="EDEA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60920" y="417880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100" normalizeH="0" baseline="0" noProof="0" dirty="0">
                <a:ln>
                  <a:noFill/>
                </a:ln>
                <a:solidFill>
                  <a:srgbClr val="D600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COMMERCIALLY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7360920" y="4471416"/>
            <a:ext cx="4023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6161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This is demand already acquired, already expressed and still fulfillable — no acquisition spend, no discount, no new inventory. 3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6161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6161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of 22 items left for a physical store: margin walking out over evidence the platform already holds.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548640" y="6345936"/>
            <a:ext cx="11064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8A8A9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Segment and outcome derived from the 22-item </a:t>
            </a:r>
            <a:r>
              <a:rPr kumimoji="0" lang="en-US" sz="1400" b="0" i="1" u="none" strike="noStrike" kern="1200" cap="none" spc="0" normalizeH="0" baseline="0" noProof="0" dirty="0" smtClean="0">
                <a:ln>
                  <a:noFill/>
                </a:ln>
                <a:solidFill>
                  <a:srgbClr val="8A8A9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interviews and walkthrough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8A8A9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; workarounds are participant-reported.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19569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16161D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Thin listings aren't a content problem — they raise decision uncertainty exactly when intent is highest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A8A9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Finds from the interviews and walkthroughs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70048" cy="1371600"/>
          </a:xfrm>
          <a:prstGeom prst="roundRect">
            <a:avLst>
              <a:gd name="adj" fmla="val 5333"/>
            </a:avLst>
          </a:prstGeom>
          <a:solidFill>
            <a:srgbClr val="F4F2F5"/>
          </a:solidFill>
          <a:ln w="12700">
            <a:solidFill>
              <a:srgbClr val="F4F2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847088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D6006E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0 / 21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85800" y="2377440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E6E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state fabric weight (GSM)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401568" y="1737360"/>
            <a:ext cx="2670048" cy="1371600"/>
          </a:xfrm>
          <a:prstGeom prst="roundRect">
            <a:avLst>
              <a:gd name="adj" fmla="val 5333"/>
            </a:avLst>
          </a:prstGeom>
          <a:solidFill>
            <a:srgbClr val="F4F2F5"/>
          </a:solidFill>
          <a:ln w="12700">
            <a:solidFill>
              <a:srgbClr val="F4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38728" y="1847088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D6006E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0 / 19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3538728" y="2377440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E6E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apparel SKUs give garment measurements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254496" y="1737360"/>
            <a:ext cx="2670048" cy="1371600"/>
          </a:xfrm>
          <a:prstGeom prst="roundRect">
            <a:avLst>
              <a:gd name="adj" fmla="val 5333"/>
            </a:avLst>
          </a:prstGeom>
          <a:solidFill>
            <a:srgbClr val="F4F2F5"/>
          </a:solidFill>
          <a:ln w="12700">
            <a:solidFill>
              <a:srgbClr val="F4F2F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91656" y="1847088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16161D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2 / 21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6391656" y="2377440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E6E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state an exact fibre percentage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9107424" y="1737360"/>
            <a:ext cx="2670048" cy="1371600"/>
          </a:xfrm>
          <a:prstGeom prst="roundRect">
            <a:avLst>
              <a:gd name="adj" fmla="val 5333"/>
            </a:avLst>
          </a:prstGeom>
          <a:solidFill>
            <a:srgbClr val="F4F2F5"/>
          </a:solidFill>
          <a:ln w="12700">
            <a:solidFill>
              <a:srgbClr val="F4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44584" y="1847088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16161D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20 / 21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9244584" y="2377440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E6E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are marketing-led or mixed, not spec-led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548640" y="3310128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6161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Three listings, verbatim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48640" y="3675888"/>
            <a:ext cx="6949440" cy="731520"/>
          </a:xfrm>
          <a:prstGeom prst="rect">
            <a:avLst/>
          </a:prstGeom>
          <a:solidFill>
            <a:srgbClr val="FBEAF2"/>
          </a:solidFill>
          <a:ln w="6350">
            <a:solidFill>
              <a:srgbClr val="E4E0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13232" y="372160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D600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listing contradicts itself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713232" y="3977640"/>
            <a:ext cx="6583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6E6E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Spec table: “Cotton”.  Description: “Premium synthetic leather”. Same page.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48640" y="4498848"/>
            <a:ext cx="6949440" cy="731520"/>
          </a:xfrm>
          <a:prstGeom prst="rect">
            <a:avLst/>
          </a:prstGeom>
          <a:solidFill>
            <a:srgbClr val="F4F2F5"/>
          </a:solidFill>
          <a:ln w="6350">
            <a:solidFill>
              <a:srgbClr val="E4E0E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" y="454456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6161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Marketing language inside the spec field itself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713232" y="4800600"/>
            <a:ext cx="6583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6E6E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Material reads “High-Quality Cotton”. The one field a buyer can hold the seller to is contaminated with a claim they cannot check.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48640" y="5321808"/>
            <a:ext cx="6949440" cy="731520"/>
          </a:xfrm>
          <a:prstGeom prst="rect">
            <a:avLst/>
          </a:prstGeom>
          <a:solidFill>
            <a:srgbClr val="F4F2F5"/>
          </a:solidFill>
          <a:ln w="6350">
            <a:solidFill>
              <a:srgbClr val="E4E0E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13232" y="536752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6161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Twenty adjectives, zero facts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713232" y="5623560"/>
            <a:ext cx="6583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6E6E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“lightweight comfort · soft texture · skin friendly · durable stitching · premium quality · tailored silhouette · trendy · timeless · classic · chic”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7772400" y="3310128"/>
            <a:ext cx="3858768" cy="2788920"/>
          </a:xfrm>
          <a:prstGeom prst="roundRect">
            <a:avLst>
              <a:gd name="adj" fmla="val 2623"/>
            </a:avLst>
          </a:prstGeom>
          <a:solidFill>
            <a:srgbClr val="EDEAF0"/>
          </a:solidFill>
          <a:ln w="12700">
            <a:solidFill>
              <a:srgbClr val="EDEAF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001000" y="3419856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100" normalizeH="0" baseline="0" noProof="0" dirty="0">
                <a:ln>
                  <a:noFill/>
                </a:ln>
                <a:solidFill>
                  <a:srgbClr val="D600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AND NO PEER EVIDENCE TO COMPENSATE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8001000" y="391363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6E6E78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~300+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8001000" y="4370832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E6E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average reviews per SKU, Myntra footwear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 txBox="1"/>
          <p:nvPr/>
        </p:nvSpPr>
        <p:spPr>
          <a:xfrm>
            <a:off x="8001000" y="473659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D6006E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~50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8001000" y="519379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E6E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on Nykaa Fashion — heavily skewed, long tail at zero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8001000" y="5705856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srgbClr val="16161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Evidence quality ≠ decision confidence.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 txBox="1"/>
          <p:nvPr/>
        </p:nvSpPr>
        <p:spPr>
          <a:xfrm>
            <a:off x="548640" y="6345936"/>
            <a:ext cx="11064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8A8A9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21 SKUs audited manually across polo, kurta, suit set, bottom wear, formal shirt, activewear and accessories; 13 under 20 reviews. Review-density figures are an indicative manual count.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75945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16161D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We evaluated seven interventions — six were rejected on evidence, cost or credibility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A9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A8A9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olution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A9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rationale, before the MVP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206240" cy="4407408"/>
          </a:xfrm>
          <a:prstGeom prst="roundRect">
            <a:avLst>
              <a:gd name="adj" fmla="val 1739"/>
            </a:avLst>
          </a:prstGeom>
          <a:solidFill>
            <a:srgbClr val="EDEAF0"/>
          </a:solidFill>
          <a:ln w="12700">
            <a:solidFill>
              <a:srgbClr val="EDEA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0136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100" normalizeH="0" baseline="0" noProof="0" dirty="0">
                <a:ln>
                  <a:noFill/>
                </a:ln>
                <a:solidFill>
                  <a:srgbClr val="D600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FIRST: WHICH GATE TO ATTACK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77240" y="2103120"/>
            <a:ext cx="3794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6161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saved item must survive every gate in sequence. Fixing an upstream gate only delivers the user into the next one — so leverage sits at the most downstream gate that is still large.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77240" y="3209544"/>
            <a:ext cx="64008" cy="658368"/>
          </a:xfrm>
          <a:prstGeom prst="rect">
            <a:avLst/>
          </a:prstGeom>
          <a:solidFill>
            <a:srgbClr val="6E6E78"/>
          </a:solidFill>
          <a:ln w="12700">
            <a:solidFill>
              <a:srgbClr val="6E6E7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9264" y="31821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6161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Purchasability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969264" y="3429000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E6E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largest gate the engine saw — but zero in our sample, and a supply problem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77240" y="3941064"/>
            <a:ext cx="64008" cy="658368"/>
          </a:xfrm>
          <a:prstGeom prst="rect">
            <a:avLst/>
          </a:prstGeom>
          <a:solidFill>
            <a:srgbClr val="6E6E78"/>
          </a:solidFill>
          <a:ln w="12700">
            <a:solidFill>
              <a:srgbClr val="6E6E7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9264" y="391363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6161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Return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969264" y="4160520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E6E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upstream: bring the user back and they still meet the unresolved decision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77240" y="4672584"/>
            <a:ext cx="64008" cy="658368"/>
          </a:xfrm>
          <a:prstGeom prst="rect">
            <a:avLst/>
          </a:prstGeom>
          <a:solidFill>
            <a:srgbClr val="6E6E78"/>
          </a:solidFill>
          <a:ln w="12700">
            <a:solidFill>
              <a:srgbClr val="6E6E7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69264" y="464515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6161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Substitution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969264" y="4892040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E6E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by then the decision was already made elsewhere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77240" y="5404104"/>
            <a:ext cx="64008" cy="658368"/>
          </a:xfrm>
          <a:prstGeom prst="rect">
            <a:avLst/>
          </a:prstGeom>
          <a:solidFill>
            <a:srgbClr val="D6006E"/>
          </a:solidFill>
          <a:ln w="12700">
            <a:solidFill>
              <a:srgbClr val="D6006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9264" y="53766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D600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969264" y="5623560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E6E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still buyable, still wanted — nothing downstream left to fail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5029200" y="173736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100" normalizeH="0" baseline="0" noProof="0" dirty="0">
                <a:ln>
                  <a:noFill/>
                </a:ln>
                <a:solidFill>
                  <a:srgbClr val="D600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SECOND: WHICH INTERVENTION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029200" y="2103120"/>
            <a:ext cx="6601968" cy="521208"/>
          </a:xfrm>
          <a:prstGeom prst="rect">
            <a:avLst/>
          </a:prstGeom>
          <a:solidFill>
            <a:srgbClr val="F4F2F5"/>
          </a:solidFill>
          <a:ln w="6350">
            <a:solidFill>
              <a:srgbClr val="E4E0E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157216" y="223113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6161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GSM interpretation layer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7543800" y="223113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6E6E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8458200" y="2157984"/>
            <a:ext cx="3063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E6E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 of 21 listings state fabric weight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029200" y="2679192"/>
            <a:ext cx="6601968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E4E0E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157216" y="28072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6161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“Nykaa Verified” badge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7543800" y="280720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6E6E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Deferred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8458200" y="2734056"/>
            <a:ext cx="3063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E6E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needs a QC function product does not control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029200" y="3255264"/>
            <a:ext cx="6601968" cy="521208"/>
          </a:xfrm>
          <a:prstGeom prst="rect">
            <a:avLst/>
          </a:prstGeom>
          <a:solidFill>
            <a:srgbClr val="F4F2F5"/>
          </a:solidFill>
          <a:ln w="6350">
            <a:solidFill>
              <a:srgbClr val="E4E0E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157216" y="33832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6161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Per-SKU walkthrough video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 txBox="1"/>
          <p:nvPr/>
        </p:nvSpPr>
        <p:spPr>
          <a:xfrm>
            <a:off x="7543800" y="338328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6E6E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Deferred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8458200" y="3310128"/>
            <a:ext cx="3063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E6E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cost exceeds tail-item margin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5029200" y="3831336"/>
            <a:ext cx="6601968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E4E0E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157216" y="395935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6161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Colour-accuracy camera tool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 txBox="1"/>
          <p:nvPr/>
        </p:nvSpPr>
        <p:spPr>
          <a:xfrm>
            <a:off x="7543800" y="395935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6E6E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 txBox="1"/>
          <p:nvPr/>
        </p:nvSpPr>
        <p:spPr>
          <a:xfrm>
            <a:off x="8458200" y="3886200"/>
            <a:ext cx="3063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E6E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measures the screen, not the garment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5029200" y="4407408"/>
            <a:ext cx="6601968" cy="521208"/>
          </a:xfrm>
          <a:prstGeom prst="rect">
            <a:avLst/>
          </a:prstGeom>
          <a:solidFill>
            <a:srgbClr val="F4F2F5"/>
          </a:solidFill>
          <a:ln w="6350">
            <a:solidFill>
              <a:srgbClr val="E4E0E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157216" y="453542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6161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Incentivise more reviews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/>
          <p:cNvSpPr txBox="1"/>
          <p:nvPr/>
        </p:nvSpPr>
        <p:spPr>
          <a:xfrm>
            <a:off x="7543800" y="453542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6E6E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7"/>
          <p:cNvSpPr txBox="1"/>
          <p:nvPr/>
        </p:nvSpPr>
        <p:spPr>
          <a:xfrm>
            <a:off x="8458200" y="4462272"/>
            <a:ext cx="3063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E6E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review scarcity follows sales scarcity; monetary levers excluded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5029200" y="4983480"/>
            <a:ext cx="6601968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E4E0E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157216" y="511149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6161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Rewrite reviews as brand stories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40"/>
          <p:cNvSpPr txBox="1"/>
          <p:nvPr/>
        </p:nvSpPr>
        <p:spPr>
          <a:xfrm>
            <a:off x="7543800" y="511149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6E6E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1"/>
          <p:cNvSpPr txBox="1"/>
          <p:nvPr/>
        </p:nvSpPr>
        <p:spPr>
          <a:xfrm>
            <a:off x="8458200" y="5038344"/>
            <a:ext cx="3063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E6E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makes buyer evidence sound platform-authored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5029200" y="5559552"/>
            <a:ext cx="6601968" cy="521208"/>
          </a:xfrm>
          <a:prstGeom prst="rect">
            <a:avLst/>
          </a:prstGeom>
          <a:solidFill>
            <a:srgbClr val="FBEAF2"/>
          </a:solidFill>
          <a:ln w="6350">
            <a:solidFill>
              <a:srgbClr val="E4E0E8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157216" y="56875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D600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Listing Transparency Layer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44"/>
          <p:cNvSpPr txBox="1"/>
          <p:nvPr/>
        </p:nvSpPr>
        <p:spPr>
          <a:xfrm>
            <a:off x="7543800" y="568756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D600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Absorbed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 45"/>
          <p:cNvSpPr txBox="1"/>
          <p:nvPr/>
        </p:nvSpPr>
        <p:spPr>
          <a:xfrm>
            <a:off x="8458200" y="5614416"/>
            <a:ext cx="3063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E6E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closed only part of the observed uncertainty — kept as the evidence layer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 46"/>
          <p:cNvSpPr txBox="1"/>
          <p:nvPr/>
        </p:nvSpPr>
        <p:spPr>
          <a:xfrm>
            <a:off x="5029200" y="6199632"/>
            <a:ext cx="6601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16161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Four of the six rejections fail the same test: the platform would be speaking on its own behalf, and buyers discount that.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35554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16161D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Nykaa Decide: an evidence-first decision layer for saved products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A8A9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A9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, triggered only where the user shows purchase consideration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246120" cy="4407408"/>
          </a:xfrm>
          <a:prstGeom prst="roundRect">
            <a:avLst>
              <a:gd name="adj" fmla="val 2254"/>
            </a:avLst>
          </a:prstGeom>
          <a:solidFill>
            <a:srgbClr val="F4F2F5"/>
          </a:solidFill>
          <a:ln w="12700">
            <a:solidFill>
              <a:srgbClr val="F4F2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792224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100" normalizeH="0" baseline="0" noProof="0" dirty="0">
                <a:ln>
                  <a:noFill/>
                </a:ln>
                <a:solidFill>
                  <a:srgbClr val="D600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49808" y="2121408"/>
            <a:ext cx="28346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0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77824" y="21945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6161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Women's occasion wear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877824" y="245059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E6E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 saved  ·  3 revisited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77824" y="2724912"/>
            <a:ext cx="1828800" cy="274320"/>
          </a:xfrm>
          <a:prstGeom prst="rect">
            <a:avLst/>
          </a:prstGeom>
          <a:solidFill>
            <a:srgbClr val="D6006E"/>
          </a:solidFill>
          <a:ln w="12700">
            <a:solidFill>
              <a:srgbClr val="D6006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77824" y="274320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Compare &amp; Decide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749808" y="3142209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100" normalizeH="0" baseline="0" noProof="0" dirty="0">
                <a:ln>
                  <a:noFill/>
                </a:ln>
                <a:solidFill>
                  <a:srgbClr val="D600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HIGH-INTENT SIGNALS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749808" y="3520440"/>
            <a:ext cx="28346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6161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revisits a saved product page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6161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reads reviews or checks the size chart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6161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saves several items in one category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6161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returns inside the 30-day window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749808" y="5029200"/>
            <a:ext cx="2834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6E6E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Not all saves are intent. Mood boards, sale watchlists and aspirational saves are deliberately not targeted.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977640" y="1691640"/>
            <a:ext cx="3794760" cy="4407408"/>
          </a:xfrm>
          <a:prstGeom prst="roundRect">
            <a:avLst>
              <a:gd name="adj" fmla="val 1928"/>
            </a:avLst>
          </a:prstGeom>
          <a:solidFill>
            <a:srgbClr val="EDEAF0"/>
          </a:solidFill>
          <a:ln w="12700">
            <a:solidFill>
              <a:srgbClr val="EDEA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178808" y="179222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100" normalizeH="0" baseline="0" noProof="0" dirty="0">
                <a:ln>
                  <a:noFill/>
                </a:ln>
                <a:solidFill>
                  <a:srgbClr val="D600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CARD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4178808" y="210312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6161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Two or three light questions — what it's for, what matters most, when it's needed — then the saved shortlist is compared against them.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178808" y="2980944"/>
            <a:ext cx="64008" cy="822960"/>
          </a:xfrm>
          <a:prstGeom prst="rect">
            <a:avLst/>
          </a:prstGeom>
          <a:solidFill>
            <a:srgbClr val="0E7C5A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389120" y="29443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E7C5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Best for your occasion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4389120" y="321868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E6E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strongest evidence for occasion fit · in your size · delivery meets your date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178808" y="3895344"/>
            <a:ext cx="64008" cy="82296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389120" y="38587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B7791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What to watch out for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4389120" y="413308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E6E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“several reviewers mention it runs small” — drawn from reviews, never generated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178808" y="4809744"/>
            <a:ext cx="64008" cy="822960"/>
          </a:xfrm>
          <a:prstGeom prst="rect">
            <a:avLst/>
          </a:prstGeom>
          <a:solidFill>
            <a:srgbClr val="6E6E78"/>
          </a:solidFill>
          <a:ln w="12700">
            <a:solidFill>
              <a:srgbClr val="6E6E7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389120" y="47731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6E6E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What remains uncertain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4389120" y="504748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E6E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“the material is stated, but the listing gives no garment measurements”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4178808" y="5742432"/>
            <a:ext cx="347721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6161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Three options maximum.  Buy · </a:t>
            </a:r>
            <a:r>
              <a:rPr kumimoji="0" 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6161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Keep watching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6161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· Remove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7955280" y="1691640"/>
            <a:ext cx="3675888" cy="2651760"/>
          </a:xfrm>
          <a:prstGeom prst="roundRect">
            <a:avLst>
              <a:gd name="adj" fmla="val 2759"/>
            </a:avLst>
          </a:prstGeom>
          <a:solidFill>
            <a:srgbClr val="F4F2F5"/>
          </a:solidFill>
          <a:ln w="12700">
            <a:solidFill>
              <a:srgbClr val="F4F2F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156448" y="179222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100" normalizeH="0" baseline="0" noProof="0" dirty="0">
                <a:ln>
                  <a:noFill/>
                </a:ln>
                <a:solidFill>
                  <a:srgbClr val="D600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WHAT FEEDS IT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8156448" y="2103120"/>
            <a:ext cx="3291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6161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product specifications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6161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review synthesis and customer photos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6161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fit signals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6161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and delivery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6161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listing completeness — the 21-SKU audit, now an evidence-quality layer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7955280" y="4526280"/>
            <a:ext cx="3675888" cy="1572768"/>
          </a:xfrm>
          <a:prstGeom prst="roundRect">
            <a:avLst>
              <a:gd name="adj" fmla="val 4651"/>
            </a:avLst>
          </a:prstGeom>
          <a:solidFill>
            <a:srgbClr val="FBEAF2"/>
          </a:solidFill>
          <a:ln w="12700">
            <a:solidFill>
              <a:srgbClr val="FBEAF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156448" y="462686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100" normalizeH="0" baseline="0" noProof="0" dirty="0">
                <a:ln>
                  <a:noFill/>
                </a:ln>
                <a:solidFill>
                  <a:srgbClr val="D600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PRINCIPLE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8156448" y="4937760"/>
            <a:ext cx="3291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6161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assistant makes trade-offs explicit; it does not pick a winner and it never invents a product fact. Where the platform holds no evidence, “not stated” is a valid output.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 txBox="1"/>
          <p:nvPr/>
        </p:nvSpPr>
        <p:spPr>
          <a:xfrm>
            <a:off x="548640" y="6345936"/>
            <a:ext cx="11064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8A8A9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Research first suggested listing transparency as the intervention. Primary research showed the broader need is decision confidence — so transparency became one evidence component rather than the product.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04975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16161D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Success is decisions closed, not items saved — with grounding error as the AI guardrail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A9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A8A9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uccess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A9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719072"/>
            <a:ext cx="11082528" cy="822960"/>
          </a:xfrm>
          <a:prstGeom prst="rect">
            <a:avLst/>
          </a:prstGeom>
          <a:solidFill>
            <a:srgbClr val="1F1B24"/>
          </a:solidFill>
          <a:ln w="12700">
            <a:solidFill>
              <a:srgbClr val="1F1B2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0136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100" normalizeH="0" baseline="0" noProof="0" dirty="0">
                <a:ln>
                  <a:noFill/>
                </a:ln>
                <a:solidFill>
                  <a:srgbClr val="D600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NORTH STAR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77240" y="2057400"/>
            <a:ext cx="10607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% of wishlisting users who purchase ≥1 saved item within 30 days of adding it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2706624"/>
            <a:ext cx="3566160" cy="3200400"/>
          </a:xfrm>
          <a:prstGeom prst="roundRect">
            <a:avLst>
              <a:gd name="adj" fmla="val 2286"/>
            </a:avLst>
          </a:prstGeom>
          <a:solidFill>
            <a:srgbClr val="F4F2F5"/>
          </a:solidFill>
          <a:ln w="12700">
            <a:solidFill>
              <a:srgbClr val="F4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280720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100" normalizeH="0" baseline="0" noProof="0" dirty="0">
                <a:ln>
                  <a:noFill/>
                </a:ln>
                <a:solidFill>
                  <a:srgbClr val="D600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LEADING — is it working?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749808" y="318211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6161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Decision-assist activation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749808" y="3410712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E6E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% of eligible high-intent sessions that open Decide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749808" y="385876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6161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Evidence engagement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749808" y="4087368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E6E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% opening at least one evidence or uncertainty detail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749808" y="453542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6161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Decision closure rate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749808" y="4764024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E6E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% of assisted items ending in purchase, deliberate removal or keep-watching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749808" y="521208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6161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Time to decision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749808" y="5440680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E6E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days from Decide interaction to a resolved outcome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352544" y="2706624"/>
            <a:ext cx="3566160" cy="3200400"/>
          </a:xfrm>
          <a:prstGeom prst="roundRect">
            <a:avLst>
              <a:gd name="adj" fmla="val 2286"/>
            </a:avLst>
          </a:prstGeom>
          <a:solidFill>
            <a:srgbClr val="F4F2F5"/>
          </a:solidFill>
          <a:ln w="12700">
            <a:solidFill>
              <a:srgbClr val="F4F2F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53712" y="280720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100" normalizeH="0" baseline="0" noProof="0" dirty="0">
                <a:ln>
                  <a:noFill/>
                </a:ln>
                <a:solidFill>
                  <a:srgbClr val="16161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LAGGING — did it move?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4553712" y="318211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6161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30-day wishlist conversion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4553712" y="3410712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E6E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metric itself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4553712" y="385876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6161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30-day capture rate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4553712" y="4087368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E6E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share of eventual purchases landing in-window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4553712" y="453542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6161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Assisted vs matched control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4553712" y="4764024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E6E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only honest read on causality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4553712" y="521208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6161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Tail-SKU conversion delta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4553712" y="5440680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E6E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where evidence is thinnest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8156448" y="2706624"/>
            <a:ext cx="3566160" cy="3200400"/>
          </a:xfrm>
          <a:prstGeom prst="roundRect">
            <a:avLst>
              <a:gd name="adj" fmla="val 2286"/>
            </a:avLst>
          </a:prstGeom>
          <a:solidFill>
            <a:srgbClr val="F4F2F5"/>
          </a:solidFill>
          <a:ln w="12700">
            <a:solidFill>
              <a:srgbClr val="F4F2F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357616" y="280720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100" normalizeH="0" baseline="0" noProof="0" dirty="0">
                <a:ln>
                  <a:noFill/>
                </a:ln>
                <a:solidFill>
                  <a:srgbClr val="B7791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GUARDRAIL — what must not break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8357616" y="318211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6161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Evidence grounding error rate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 txBox="1"/>
          <p:nvPr/>
        </p:nvSpPr>
        <p:spPr>
          <a:xfrm>
            <a:off x="8357616" y="3410712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E6E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% of assistant statements not traceable to a catalogue, review or UGC source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8357616" y="385876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6161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Return and cancellation rate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8357616" y="4087368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E6E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must not rise — better expectations should lower it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 txBox="1"/>
          <p:nvPr/>
        </p:nvSpPr>
        <p:spPr>
          <a:xfrm>
            <a:off x="8357616" y="453542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6161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Panel dismissal rate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 txBox="1"/>
          <p:nvPr/>
        </p:nvSpPr>
        <p:spPr>
          <a:xfrm>
            <a:off x="8357616" y="4764024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E6E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if buyers close it instantly, it isn't wanted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 txBox="1"/>
          <p:nvPr/>
        </p:nvSpPr>
        <p:spPr>
          <a:xfrm>
            <a:off x="8357616" y="521208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6161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Add-to-wishlist rate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 txBox="1"/>
          <p:nvPr/>
        </p:nvSpPr>
        <p:spPr>
          <a:xfrm>
            <a:off x="8357616" y="5440680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E6E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must not fall; we are not discouraging saving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 txBox="1"/>
          <p:nvPr/>
        </p:nvSpPr>
        <p:spPr>
          <a:xfrm>
            <a:off x="548640" y="6345936"/>
            <a:ext cx="11064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8A8A9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Wishlist volume is deliberately excluded as a success metric: more saves without more resolved decisions moves engagement, not the business metric.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42808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B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What we would watch, and where this goes next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A9A4B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A9A4B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isks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A9A4B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, mitigation and sequencing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537960" cy="841248"/>
          </a:xfrm>
          <a:prstGeom prst="rect">
            <a:avLst/>
          </a:prstGeom>
          <a:solidFill>
            <a:srgbClr val="2A2531"/>
          </a:solidFill>
          <a:ln w="12700">
            <a:solidFill>
              <a:srgbClr val="2A253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517904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D600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Users may not want another decision layer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49808" y="1773936"/>
            <a:ext cx="6172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A9A4B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Triggered only on consideration signals, never on casual browsing. Activation A/B tested; dismissal rate is a shipped guardrail.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2404872"/>
            <a:ext cx="6537960" cy="841248"/>
          </a:xfrm>
          <a:prstGeom prst="rect">
            <a:avLst/>
          </a:prstGeom>
          <a:solidFill>
            <a:srgbClr val="2A2531"/>
          </a:solidFill>
          <a:ln w="12700">
            <a:solidFill>
              <a:srgbClr val="2A253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2459736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D600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could add friction rather than remove it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749808" y="2715768"/>
            <a:ext cx="6172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A9A4B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Three options maximum, ordered by the priority the user states. “Just tell me the key difference” as a one-tap exit.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3346704"/>
            <a:ext cx="6537960" cy="841248"/>
          </a:xfrm>
          <a:prstGeom prst="rect">
            <a:avLst/>
          </a:prstGeom>
          <a:solidFill>
            <a:srgbClr val="2A2531"/>
          </a:solidFill>
          <a:ln w="12700">
            <a:solidFill>
              <a:srgbClr val="2A253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3401568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D600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must trace back to a source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749808" y="3657600"/>
            <a:ext cx="6172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A9A4B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assistant retrieves and cites; it does not generate product facts. Grounding error rate sampled continuously.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48640" y="4288536"/>
            <a:ext cx="6537960" cy="841248"/>
          </a:xfrm>
          <a:prstGeom prst="rect">
            <a:avLst/>
          </a:prstGeom>
          <a:solidFill>
            <a:srgbClr val="2A2531"/>
          </a:solidFill>
          <a:ln w="12700">
            <a:solidFill>
              <a:srgbClr val="2A253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9808" y="4343400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D600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Evidence is thin on exactly the SKUs that need it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749808" y="4599432"/>
            <a:ext cx="6172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A9A4B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is surfaced rather than filled in. Recurring gaps route to seller-content improvement; V2 adds buyer evidence.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48640" y="5230368"/>
            <a:ext cx="6537960" cy="841248"/>
          </a:xfrm>
          <a:prstGeom prst="rect">
            <a:avLst/>
          </a:prstGeom>
          <a:solidFill>
            <a:srgbClr val="2A2531"/>
          </a:solidFill>
          <a:ln w="12700">
            <a:solidFill>
              <a:srgbClr val="2A253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9808" y="5285232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D600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Better information could slow the purchase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749808" y="5541264"/>
            <a:ext cx="6172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A9A4B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Evaluated against a matched control alongside returns. Kill criterion: assisted conversion below control at 30 days.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7452360" y="14813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100" normalizeH="0" baseline="0" noProof="0" dirty="0">
                <a:ln>
                  <a:noFill/>
                </a:ln>
                <a:solidFill>
                  <a:srgbClr val="D6006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452360" y="1865376"/>
            <a:ext cx="182880" cy="182880"/>
          </a:xfrm>
          <a:prstGeom prst="ellipse">
            <a:avLst/>
          </a:prstGeom>
          <a:solidFill>
            <a:srgbClr val="D6006E"/>
          </a:solidFill>
          <a:ln w="12700">
            <a:solidFill>
              <a:srgbClr val="D6006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43800" y="2084832"/>
            <a:ext cx="0" cy="731520"/>
          </a:xfrm>
          <a:prstGeom prst="line">
            <a:avLst/>
          </a:prstGeom>
          <a:noFill/>
          <a:ln w="12700">
            <a:solidFill>
              <a:srgbClr val="3A344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0" y="1828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V1 — Nykaa Decide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7772400" y="2084832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A9A4B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High-intent detection, comparison of saved products, review synthesis, explicit uncertainty.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452360" y="2926080"/>
            <a:ext cx="182880" cy="182880"/>
          </a:xfrm>
          <a:prstGeom prst="ellipse">
            <a:avLst/>
          </a:prstGeom>
          <a:solidFill>
            <a:srgbClr val="4A4356"/>
          </a:solidFill>
          <a:ln w="12700">
            <a:solidFill>
              <a:srgbClr val="4A435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43800" y="3145536"/>
            <a:ext cx="0" cy="731520"/>
          </a:xfrm>
          <a:prstGeom prst="line">
            <a:avLst/>
          </a:prstGeom>
          <a:noFill/>
          <a:ln w="12700">
            <a:solidFill>
              <a:srgbClr val="3A344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72400" y="28895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V2 — Personal buying agent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7772400" y="3145536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A9A4B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From “which of these?” to “should I buy this?” — preference profile, fit signals from kept versus returned purchases.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452360" y="3986784"/>
            <a:ext cx="182880" cy="182880"/>
          </a:xfrm>
          <a:prstGeom prst="ellipse">
            <a:avLst/>
          </a:prstGeom>
          <a:solidFill>
            <a:srgbClr val="4A4356"/>
          </a:solidFill>
          <a:ln w="12700">
            <a:solidFill>
              <a:srgbClr val="4A435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43800" y="4206240"/>
            <a:ext cx="0" cy="731520"/>
          </a:xfrm>
          <a:prstGeom prst="line">
            <a:avLst/>
          </a:prstGeom>
          <a:noFill/>
          <a:ln w="12700">
            <a:solidFill>
              <a:srgbClr val="3A344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72400" y="39502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V3 — Closed-loop evidence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7772400" y="4206240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A9A4B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post-purchase photo and material feedback; verified specification status; seller feedback loops.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7452360" y="5047488"/>
            <a:ext cx="182880" cy="182880"/>
          </a:xfrm>
          <a:prstGeom prst="ellipse">
            <a:avLst/>
          </a:prstGeom>
          <a:solidFill>
            <a:srgbClr val="4A4356"/>
          </a:solidFill>
          <a:ln w="12700">
            <a:solidFill>
              <a:srgbClr val="4A435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772400" y="50109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V4 — Remaining gates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 txBox="1"/>
          <p:nvPr/>
        </p:nvSpPr>
        <p:spPr>
          <a:xfrm>
            <a:off x="7772400" y="5266944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A9A4B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Substitution, Return friction and Latency, deliberately unaddressed in V1.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324497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2150</Words>
  <Application>Microsoft Office PowerPoint</Application>
  <PresentationFormat>Widescreen</PresentationFormat>
  <Paragraphs>275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1</cp:revision>
  <dcterms:created xsi:type="dcterms:W3CDTF">2026-09-05T04:06:32Z</dcterms:created>
  <dcterms:modified xsi:type="dcterms:W3CDTF">2026-09-05T04:10:13Z</dcterms:modified>
</cp:coreProperties>
</file>