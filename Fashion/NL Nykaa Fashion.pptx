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discovery engine</c:v>
                </c:pt>
              </c:strCache>
            </c:strRef>
          </c:tx>
          <c:spPr>
            <a:solidFill>
              <a:srgbClr val="6E6E7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Purchasability</c:v>
                  </c:pt>
                  <c:pt idx="1">
                    <c:v>Decision</c:v>
                  </c:pt>
                  <c:pt idx="2">
                    <c:v>Substitution</c:v>
                  </c:pt>
                  <c:pt idx="3">
                    <c:v>Return</c:v>
                  </c:pt>
                  <c:pt idx="4">
                    <c:v>Economic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User interviews</c:v>
                </c:pt>
              </c:strCache>
            </c:strRef>
          </c:tx>
          <c:spPr>
            <a:solidFill>
              <a:srgbClr val="D600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Purchasability</c:v>
                  </c:pt>
                  <c:pt idx="1">
                    <c:v>Decision</c:v>
                  </c:pt>
                  <c:pt idx="2">
                    <c:v>Substitution</c:v>
                  </c:pt>
                  <c:pt idx="3">
                    <c:v>Return</c:v>
                  </c:pt>
                  <c:pt idx="4">
                    <c:v>Economic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63</c:v>
                </c:pt>
                <c:pt idx="2">
                  <c:v>25</c:v>
                </c:pt>
                <c:pt idx="3">
                  <c:v>12</c:v>
                </c:pt>
                <c:pt idx="4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16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6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A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links must be live and open in incognito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Nykaa Fashion wishlists don't stall on stockouts —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can't tell what they're buying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share of users who purchase a wishlisted item within 30 days · Growth · Nykaa Fashion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units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machine-classified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blind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frozen codebook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wishlisted items walked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with 7 shoppers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tail-SKU listings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line by 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3A34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Research Insight Engine · Part 1 — evidence / discovery   [paste link]          Deployed Nykaa Decide MVP · Part 5 — user-facing solution   [paste link]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is user-level; the failures are item-level — so we decomposed it in two layers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Business Metric Decomposition · business metric → product outcomes → observable behaviours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USER LEVEL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848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wishlisting users who purchase ≥1 saved item within 30 days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786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converts unless every saved item fails.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120640" cy="1481328"/>
          </a:xfrm>
          <a:prstGeom prst="roundRect">
            <a:avLst>
              <a:gd name="adj" fmla="val 4938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101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— A DELIBERATE CHOICE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84448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Wishlisters only, not all MAU. Including non-wishlisters would fold an adoption problem into a conversion problem. The brief targets demand already present on the platform.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28032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937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TO CHANGE FOR THE METRIC TO MOVE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212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item must survive every gate. So the leverage sits at the gate that kills the most items — and, critically, at the most downstream one, because fixing an upstream gate only delivers users into the next.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173736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ITEM LEVEL: eight pre-registered failure gates, earliest-decisive rule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148840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2203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Return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203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re-engaged with the saved item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660904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53328" y="2715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Purchasability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715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variant no longer buyable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3172968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3227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Intent decay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27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wants 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3685032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53328" y="37398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Decision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739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wants it, can't commit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4197096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53328" y="4251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Substitution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251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it elsewhere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4709160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53328" y="4764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Latency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764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buy, but after day 30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5221224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53328" y="5276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Economic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5276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the blocker (out of scope by brief)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5733288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53328" y="5788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Other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5788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information to attribute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frozen before any data was collected. One gate per item; downstream events retained as metadata, never a second vote.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engine built to reject its own hypothesis: frozen codebook, blind ground truth, declared bias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discovery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568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3055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Behaviour-anchored queries only — 'wishlist', 'saved it but', 'meant to buy'. Never reason-anchored: searching for a reason determines the finding. Full query log kept, including 43 null queries.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53512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07238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16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461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filter runs before any gate is assigned. A wishlist mention alone is insufficient — the unit must name a product and show purchase consideration.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069080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1879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32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6168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unit, one gate, earliest-decisive rule. Codebook v1.1 fingerprinted and frozen; the prompt was never tuned to raise a score.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184648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3035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480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7725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units hand-coded blind before any model output was seen. Adversarial test set of 11 boundary cases gates the classifier.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737360"/>
            <a:ext cx="4315968" cy="4389120"/>
          </a:xfrm>
          <a:prstGeom prst="roundRect">
            <a:avLst>
              <a:gd name="adj" fmla="val 1695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FAILURE TESTING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176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candidate models were run against 11 hand-built boundary cases before any corpus work.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788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1912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550B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31912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3593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Nemotron 49B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35935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39959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120B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332720" y="3995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4526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was the intent filter, not a gate boundary. All three open models discarded "Saved it but didn't buy" — silently shrinking the denominator of every share we would have reported.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5532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did not predict quality: the 120B scored worst.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1,069 units, Google Play (Myntra · AJIO · Nykaa Fashion). Query log and codebook fingerprint published with the engine.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sees stockouts because stockouts get complained about — five of eight gates are invisible in review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findings, and the limits of the instrument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78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wishlist-mentioning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describe an actual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failure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83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478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units — every free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blocked; the archive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agents, not evaded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CORPUS CAN AND CANNOT SEE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Purchasability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 sold-out size is a grievance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480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pricing is complained about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91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7914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switching gets announced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02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51023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"I couldn't decide" isn't a review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13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decay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413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nobody reviews forgetting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724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57241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waiting generates no 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783080"/>
            <a:ext cx="5961888" cy="4297680"/>
          </a:xfrm>
          <a:prstGeom prst="roundRect">
            <a:avLst>
              <a:gd name="adj" fmla="val 1702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0" y="1920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BEFORE ANALYSIS, NOT AFTER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2128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text samples what people bother to write down, not what happens. We recorded the expected direction of that bias before classifying anything: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29260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Purchasability and Economic will be over-observed.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Intent Decay and Latency will be under-observed. Their measured rates are lower bounds, not estimates.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3977640"/>
            <a:ext cx="5394960" cy="0"/>
          </a:xfrm>
          <a:prstGeom prst="line">
            <a:avLst/>
          </a:prstGeom>
          <a:noFill/>
          <a:ln w="12700">
            <a:solidFill>
              <a:srgbClr val="D9D4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4114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condition to invalidate our own platform choice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4348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economic friction dominated the evidence, Nykaa Fashion was the wrong platform for a brief that forbids monetary levers, and we would have said so.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came back second in the corpus and zero in interviews. The platform choice survived a test designed to break it.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units hand-coded blind against frozen codebook v1.1 before any model output was viewed. Single coder — stated as a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research inverts the engine: every saved item was still buyable, and nobody was blocked by stock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22 wishlisted items walked through with 7 shoppers on their own phones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92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0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2478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still purchasable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buyer's size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21/22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2478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wanted by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saved 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3429000"/>
            <a:ext cx="4315968" cy="2651760"/>
          </a:xfrm>
          <a:prstGeom prst="roundRect">
            <a:avLst>
              <a:gd name="adj" fmla="val 275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4380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ITEMS ACTUALLY SAID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858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“Unsure on the quality of the leather.”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43159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“Unsure whether the colour will match the one visible on screen.”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47731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“Unsure on the quality for the premium paid.”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52303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am I getting exactly?”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5687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survives. Availability survives. The decision is what fails.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22 items across 7 participants (~15 independent decision events); 16 non-converted items form the gate distribution. Convenience-recruited, self-coded — direction is strong, percentages indicative.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Occasion-driven buyers on thin listings leave the platform to learn what the page won't tell them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problem definition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Occasion-driven shoppers saving mid-priced apparel on low-review SKUs — festive wear, gifting, workwear, life-stage purchases. Items are recent, not decayed: median 10 days since save, 18 of 22 inside the 30-day window.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101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OUTCOME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8444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closed on already-saved items — not more items saved. Wishlist volume is explicitly not the objective; a user saving 40 items and buying none contributes nothing.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7274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0176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cannot determine what the product actually is from the listing. Platform copy mixes checkable specification with unbackable persuasion and never marks the difference — and on tail SKUs there is no peer evidence to arbitrate.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1783080"/>
            <a:ext cx="4498848" cy="2148840"/>
          </a:xfrm>
          <a:prstGeom prst="roundRect">
            <a:avLst>
              <a:gd name="adj" fmla="val 340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1901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WORKAROUNDS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212848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a physical store to check fit, then buying there (3 of 22 items)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Screenshotting wishlist items because saves are lost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the same SKU on Myntra for denser reviews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4114800"/>
            <a:ext cx="4498848" cy="1965960"/>
          </a:xfrm>
          <a:prstGeom prst="roundRect">
            <a:avLst>
              <a:gd name="adj" fmla="val 3721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4233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COMMERCIALLY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544568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demand already on the platform, already expressed, and still fulfillable — no acquisition spend, no discount, no new inventory. Three of 22 items left for a physical store; that is margin walking out over information the page could have carried.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outcome derived from the 22-item walkthrough; workarounds are participant-reported.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of 21 listings state fabric weight — and one contradicts itself between spec table and description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Research — 21-SKU listing audit · why thin listings make decision confidence hard to reach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fabric weight (GSM)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19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SKUs give garment measurements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21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 exact fibre percentage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4584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44584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marketing-led or mixed, not spec-led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6499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listings, verbatim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30752"/>
            <a:ext cx="6949440" cy="731520"/>
          </a:xfrm>
          <a:prstGeom prst="rect">
            <a:avLst/>
          </a:prstGeom>
          <a:solidFill>
            <a:srgbClr val="FBEAF2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7856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contradicts itself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02336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table: “Cotton”.  Description: “Premium synthetic leather”. Same page. A buyer cannot determine what the bag is made of.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6949440" cy="731520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6085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is in the title and nowhere else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84632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invokes “Omni-Heat Reflective” thermal technology. Nothing in the listing explains what it means, what it weighs, or how warm it performs.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376672"/>
            <a:ext cx="6949440" cy="731520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54315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adjectives, zero facts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566928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“lightweight comfort · soft texture · skin friendly · durable stitching · premium quality · tailored silhouette · trendy · timeless · classic · chic” — and not one number beyond the spec table.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0" y="3364992"/>
            <a:ext cx="3858768" cy="2724912"/>
          </a:xfrm>
          <a:prstGeom prst="roundRect">
            <a:avLst>
              <a:gd name="adj" fmla="val 2685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01000" y="34930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PEER EVIDENCE TO COMPENSATE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~300+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4434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reviews per SKU, Myntra footwear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5257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Nykaa Fashion — heavily skewed, with a long tail at zero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5742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listing + thin reviews = one mechanism by which decision confidence breaks down.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SKUs audited manually across polo, kurta, suit set, bottom wear, formal shirt, activewear and accessories; 13 under 20 reviews. Review-density comparison is an indicative manual count.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Nykaa Decide: an evidence-first decision layer for saved products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MVP · saved products → high-intent shortlist → evidence synthesis → trade-offs + uncertainty → decision → bag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" cy="1060704"/>
          </a:xfrm>
          <a:prstGeom prst="rect">
            <a:avLst/>
          </a:prstGeom>
          <a:solidFill>
            <a:srgbClr val="0E7C5A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783080"/>
            <a:ext cx="6035040" cy="1060704"/>
          </a:xfrm>
          <a:prstGeom prst="roundRect">
            <a:avLst>
              <a:gd name="adj" fmla="val 68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 on arrival and returnable against.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048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“Cotton · regular fit · mandarin neck · machine wash · 15.2 × 5 × 13.2 cm · 1-year warranty”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82296" cy="106070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990088"/>
            <a:ext cx="6035040" cy="1060704"/>
          </a:xfrm>
          <a:prstGeom prst="roundRect">
            <a:avLst>
              <a:gd name="adj" fmla="val 68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815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CLAIMED, NOT BACKED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3558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Asserted, unmeasurable, unenforceable.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6118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“premium quality · butter-soft · withstands the test of time · Omni-Heat”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82296" cy="1060704"/>
          </a:xfrm>
          <a:prstGeom prst="rect">
            <a:avLst/>
          </a:prstGeom>
          <a:solidFill>
            <a:srgbClr val="6E6E78"/>
          </a:solidFill>
          <a:ln w="12700">
            <a:solidFill>
              <a:srgbClr val="6E6E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4197096"/>
            <a:ext cx="6035040" cy="1060704"/>
          </a:xfrm>
          <a:prstGeom prst="roundRect">
            <a:avLst>
              <a:gd name="adj" fmla="val 68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2885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5628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would need, and the page is silent 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188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weight · garment measurements · fibre % · material grade — 3.8 fields missing per SKU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6208776" cy="621792"/>
          </a:xfrm>
          <a:prstGeom prst="rect">
            <a:avLst/>
          </a:prstGeom>
          <a:solidFill>
            <a:srgbClr val="FBEAF2"/>
          </a:solidFill>
          <a:ln w="9525">
            <a:solidFill>
              <a:srgbClr val="F2CF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41264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 layer — how Decide grades what a listing actually tells you. + Contradiction flag when the spec table and the description disagree — fires on 1 of 21 audited listings.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1783080"/>
            <a:ext cx="4590288" cy="4279392"/>
          </a:xfrm>
          <a:prstGeom prst="roundRect">
            <a:avLst>
              <a:gd name="adj" fmla="val 1709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1901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BUILD, AND WHY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240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interpretation layer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4597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21 listings state fabric weight. Killed by our own audit.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28620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“Nykaa Verified” badge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3081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QC function product doesn't control — a trust claim with no authority to make it true.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4838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walkthrough video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exceeds tail-item margin; highest spend on lowest-selling SKUs.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41056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Colour-accuracy meter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325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user's screen, not the garment. The distortion is upstream of the user.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727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users to write reviews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49469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scarcity is downstream of sales scarcity — and monetary levers are excluded by the brief.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53492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stylist with a match score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5568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asked for an opinion. Platform judgment inherits the credibility discount.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Platform-authored content is discounted because the platform has an incentive to sell. On tail SKUs there is no buyer content — so the platform must say the one thing it has no incentive to say: what its own listing fails to tell you.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is decisions closed, not items saved — with returns as the guardrail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success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82528" cy="841248"/>
          </a:xfrm>
          <a:prstGeom prst="rect">
            <a:avLst/>
          </a:prstGeom>
          <a:solidFill>
            <a:srgbClr val="1F1B24"/>
          </a:solidFill>
          <a:ln w="12700">
            <a:solidFill>
              <a:srgbClr val="1F1B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8483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wishlisting users who purchase ≥1 saved item within 30 days of adding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66160" cy="3127248"/>
          </a:xfrm>
          <a:prstGeom prst="roundRect">
            <a:avLst>
              <a:gd name="adj" fmla="val 233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— is it working?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246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expansion rate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747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buyer open “not stated”?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904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PDP revisit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panel pull people back to saved items?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562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decision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791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panel view to purchase or removal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221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clear rate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4498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resolved — bought or deliberately removed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52544" y="2743200"/>
            <a:ext cx="3566160" cy="3127248"/>
          </a:xfrm>
          <a:prstGeom prst="roundRect">
            <a:avLst>
              <a:gd name="adj" fmla="val 233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— did it move?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246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wishlist conversion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53712" y="34747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metric itself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3904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capture rate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eventual purchases landing in-window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562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Tail-SKU conversion delta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791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SKUs vs matched control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53712" y="5221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leakage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53712" y="54498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store visits for saved items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56448" y="2743200"/>
            <a:ext cx="3566160" cy="3127248"/>
          </a:xfrm>
          <a:prstGeom prst="roundRect">
            <a:avLst>
              <a:gd name="adj" fmla="val 233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7616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— what must not break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57616" y="3246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34747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rise — accurate expectations should lower it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3904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Add-to-wishlist rate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fall; we are not discouraging saving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562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listing quality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4791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SKUs with ≥1 not-stated field should fall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357616" y="5221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dismissal rate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357616" y="54498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buyers close it instantly, it isn't wanted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volume is deliberately excluded as a success metric: more saves without more resolved decisions moves engagement, not the business metric.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doesn't solve — and why supply comes second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risks, mitigations and sequencing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suppresses purchase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1965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a buyer the listing is thin may stop the sale.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5740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Wishlisted items already convert at zero — the counterfactual is non-purchase either way. Guardrail: return rate must not rise. Kill criterion: conversion below matched control at 30 days.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6974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only part of the problem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352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observed Decision failures close cleanly.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17296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 grade and colour match can only be reported as unstated — an explicit v1 non-goal, not hidden. Both route to the V2 supply track, where buyer photos resolve what specification cannot.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813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game the checkable fields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0507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pad specs with unverifiable numbers to clear the panel.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28853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status requires a returnable claim. Guardrail metric tracks the share of SKUs improving their listings — that outcome is the point, not a failure.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9286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is small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1663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participants, ~15 independent decisions, single coder, one platform.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40410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consistent across two independent instruments with opposite blind spots. Percentages are reported as indicative and every n is stated.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956816"/>
            <a:ext cx="182880" cy="182880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8388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now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215798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Transparency Layer on saved items. Rule-based, no ML, deployed.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3008376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2971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supply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320954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buyer evidence: prompted photo and material feedback at delivery, targeted at SKUs the panel flags as thin. Non-monetary.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0" y="4059936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4023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verification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26110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“Spec verified” status where QC can confirm a claim — earns the badge instead of asserting it.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63840" y="5111496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5074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— expansion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31266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and Return gates, deliberately unaddressed in v1.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first, intervention second: Purchasability was the largest engine-observed gate, but interviews found it at zero for this segment — so v1 does not solve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2026-09-04T11:12:33Z</dcterms:created>
  <dcterms:modified xsi:type="dcterms:W3CDTF">2026-09-04T11:12:33Z</dcterms:modified>
</cp:coreProperties>
</file>